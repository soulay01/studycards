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8952" cy="6858000"/>
          </a:xfrm>
          <a:prstGeom prst="rect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15468" y="502920"/>
            <a:ext cx="128016" cy="128016"/>
          </a:xfrm>
          <a:prstGeom prst="ellipse">
            <a:avLst/>
          </a:prstGeom>
          <a:solidFill>
            <a:srgbClr val="E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" y="1828800"/>
            <a:ext cx="640080" cy="2743200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algn="ctr"/>
            <a:r>
              <a:rPr sz="1100">
                <a:solidFill>
                  <a:srgbClr val="554E48"/>
                </a:solidFill>
                <a:latin typeface="Courier New"/>
              </a:rPr>
              <a:t>StudyCards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0"/>
            <a:ext cx="11430000" cy="6400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669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4832A"/>
                </a:solidFill>
                <a:latin typeface="Courier New"/>
              </a:rPr>
              <a:t>// Lernkarten-App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68680"/>
            <a:ext cx="7772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400" b="0">
                <a:solidFill>
                  <a:srgbClr val="1C1915"/>
                </a:solidFill>
                <a:latin typeface="Georgia"/>
              </a:rPr>
              <a:t>Study</a:t>
            </a:r>
          </a:p>
          <a:p>
            <a:r>
              <a:rPr sz="10400" i="1">
                <a:solidFill>
                  <a:srgbClr val="C4832A"/>
                </a:solidFill>
                <a:latin typeface="Georgia"/>
              </a:rPr>
              <a:t>Cards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352544"/>
            <a:ext cx="2926080" cy="20116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36576" cy="77724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72768" y="45720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D3830"/>
                </a:solidFill>
                <a:latin typeface="Calibri"/>
              </a:rPr>
              <a:t>Eine JavaFX-App zum Erstellen
und Lernen mit Karteikarten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566928"/>
            <a:ext cx="1993392" cy="1371600"/>
          </a:xfrm>
          <a:prstGeom prst="rect">
            <a:avLst/>
          </a:prstGeom>
          <a:solidFill>
            <a:srgbClr val="EDE8D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93808" y="7498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3808" y="102412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5"/>
                </a:solidFill>
                <a:latin typeface="Calibri"/>
              </a:rPr>
              <a:t>JavaFX 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029968"/>
            <a:ext cx="1993392" cy="1371600"/>
          </a:xfrm>
          <a:prstGeom prst="rect">
            <a:avLst/>
          </a:prstGeom>
          <a:solidFill>
            <a:srgbClr val="EDE8D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93808" y="2212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Datenbank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8" y="248716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5"/>
                </a:solidFill>
                <a:latin typeface="Calibri"/>
              </a:rPr>
              <a:t>MySQL + JDBC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493008"/>
            <a:ext cx="1993392" cy="1371600"/>
          </a:xfrm>
          <a:prstGeom prst="rect">
            <a:avLst/>
          </a:prstGeom>
          <a:solidFill>
            <a:srgbClr val="C4832A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93808" y="3675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Präsentation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395020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 Min + 3 Min Q&amp;A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6419088"/>
            <a:ext cx="10314432" cy="7315"/>
          </a:xfrm>
          <a:prstGeom prst="rect">
            <a:avLst/>
          </a:prstGeom>
          <a:solidFill>
            <a:srgbClr val="D8C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644652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0A89E"/>
                </a:solidFill>
                <a:latin typeface="Courier New"/>
              </a:rPr>
              <a:t>Programmierung</a:t>
            </a:r>
            <a:r>
              <a:rPr sz="1200" b="0" i="0" dirty="0">
                <a:solidFill>
                  <a:srgbClr val="B0A89E"/>
                </a:solidFill>
                <a:latin typeface="Courier New"/>
              </a:rPr>
              <a:t> II  ·  </a:t>
            </a:r>
            <a:r>
              <a:rPr sz="1200" b="0" i="0" dirty="0" err="1">
                <a:solidFill>
                  <a:srgbClr val="B0A89E"/>
                </a:solidFill>
                <a:latin typeface="Courier New"/>
              </a:rPr>
              <a:t>Semesterprojekt</a:t>
            </a:r>
            <a:r>
              <a:rPr sz="1200" b="0" i="0" dirty="0">
                <a:solidFill>
                  <a:srgbClr val="B0A89E"/>
                </a:solidFill>
                <a:latin typeface="Courier New"/>
              </a:rPr>
              <a:t> </a:t>
            </a:r>
            <a:r>
              <a:rPr lang="de-DE" sz="1200" b="0" i="0" dirty="0">
                <a:solidFill>
                  <a:srgbClr val="B0A89E"/>
                </a:solidFill>
                <a:latin typeface="Courier New"/>
              </a:rPr>
              <a:t>2025/2026</a:t>
            </a:r>
            <a:endParaRPr sz="1200" b="0" i="0" dirty="0">
              <a:solidFill>
                <a:srgbClr val="B0A89E"/>
              </a:solidFill>
              <a:latin typeface="Courier New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92640" y="6446520"/>
            <a:ext cx="1947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200" b="0" i="0" dirty="0">
                <a:solidFill>
                  <a:srgbClr val="B0A89E"/>
                </a:solidFill>
                <a:latin typeface="Courier New"/>
              </a:rPr>
              <a:t>Solaiman Tanjaoui</a:t>
            </a:r>
            <a:endParaRPr sz="1200" b="0" i="0" dirty="0">
              <a:solidFill>
                <a:srgbClr val="B0A89E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952" y="0"/>
            <a:ext cx="11430000" cy="6400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8952" cy="6858000"/>
          </a:xfrm>
          <a:prstGeom prst="rect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15468" y="502920"/>
            <a:ext cx="128016" cy="128016"/>
          </a:xfrm>
          <a:prstGeom prst="ellipse">
            <a:avLst/>
          </a:prstGeom>
          <a:solidFill>
            <a:srgbClr val="E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" y="1828800"/>
            <a:ext cx="640080" cy="2743200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algn="ctr"/>
            <a:r>
              <a:rPr sz="1100">
                <a:solidFill>
                  <a:srgbClr val="554E48"/>
                </a:solidFill>
                <a:latin typeface="Courier New"/>
              </a:rPr>
              <a:t>StudyCards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10314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32A"/>
                </a:solidFill>
                <a:latin typeface="Courier New"/>
              </a:rPr>
              <a:t>ÜBERBLICK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"/>
            <a:ext cx="10314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1C1915"/>
                </a:solidFill>
                <a:latin typeface="Georgia"/>
              </a:rPr>
              <a:t>Kurze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70432"/>
            <a:ext cx="10314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8278"/>
                </a:solidFill>
                <a:latin typeface="Calibri"/>
              </a:rPr>
              <a:t>Was ist StudyCards und wie funktioniert 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99616"/>
            <a:ext cx="10314432" cy="1463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1664208"/>
            <a:ext cx="3316224" cy="5047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0" y="1664208"/>
            <a:ext cx="45720" cy="504748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1828800"/>
            <a:ext cx="3060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01 — Idee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66544"/>
            <a:ext cx="30601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1915"/>
                </a:solidFill>
                <a:latin typeface="Georgia"/>
              </a:rPr>
              <a:t>Die Idee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96896"/>
            <a:ext cx="3060192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3830"/>
                </a:solidFill>
                <a:latin typeface="Calibri"/>
              </a:rPr>
              <a:t>→  Digitale Lernkarten erstellen
→  In Lernsets organisieren
→  Im Lernmodus üben
→  Ergebnis am Ende sehen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0704" y="1664208"/>
            <a:ext cx="3316224" cy="5047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70704" y="1664208"/>
            <a:ext cx="45720" cy="504748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53584" y="1828800"/>
            <a:ext cx="3060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02 — 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3584" y="2066544"/>
            <a:ext cx="30601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1915"/>
                </a:solidFill>
                <a:latin typeface="Georgia"/>
              </a:rPr>
              <a:t>Technologien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3584" y="2596896"/>
            <a:ext cx="3060192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3830"/>
                </a:solidFill>
                <a:latin typeface="Calibri"/>
              </a:rPr>
              <a:t>→  JavaFX 21 — Benutzeroberfläche
→  MySQL — Datenspeicher
→  JDBC — Datenbankzugriff
→  Maven — Build &amp; Dependencies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9808" y="1664208"/>
            <a:ext cx="3316224" cy="5047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9808" y="1664208"/>
            <a:ext cx="45720" cy="504748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52688" y="1828800"/>
            <a:ext cx="3060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03 —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2688" y="2066544"/>
            <a:ext cx="30601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1915"/>
                </a:solidFill>
                <a:latin typeface="Georgia"/>
              </a:rPr>
              <a:t>Projektumfang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2688" y="2596896"/>
            <a:ext cx="3060192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3830"/>
                </a:solidFill>
                <a:latin typeface="Calibri"/>
              </a:rPr>
              <a:t>→  4 Versionen (progressiver Aufbau)
→  7 Java-Klassen
→  MVC-ähnliche Struktur
→  Vollständig lauffähig in 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952" y="0"/>
            <a:ext cx="11430000" cy="6400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8952" cy="6858000"/>
          </a:xfrm>
          <a:prstGeom prst="rect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15468" y="502920"/>
            <a:ext cx="128016" cy="128016"/>
          </a:xfrm>
          <a:prstGeom prst="ellipse">
            <a:avLst/>
          </a:prstGeom>
          <a:solidFill>
            <a:srgbClr val="E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" y="1828800"/>
            <a:ext cx="640080" cy="2743200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algn="ctr"/>
            <a:r>
              <a:rPr sz="1100">
                <a:solidFill>
                  <a:srgbClr val="554E48"/>
                </a:solidFill>
                <a:latin typeface="Courier New"/>
              </a:rPr>
              <a:t>StudyCards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10314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32A"/>
                </a:solidFill>
                <a:latin typeface="Courier New"/>
              </a:rPr>
              <a:t>TECHNIK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"/>
            <a:ext cx="10314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1C1915"/>
                </a:solidFill>
                <a:latin typeface="Georgia"/>
              </a:rPr>
              <a:t>Technische Herausforderungen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70432"/>
            <a:ext cx="10314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8278"/>
                </a:solidFill>
                <a:latin typeface="Calibri"/>
              </a:rPr>
              <a:t>Probleme &amp; wie ich sie gelöst habe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99616"/>
            <a:ext cx="10314432" cy="1463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1664208"/>
            <a:ext cx="505663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0" y="1664208"/>
            <a:ext cx="45720" cy="239572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182880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Challenge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66544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1915"/>
                </a:solidFill>
                <a:latin typeface="Georgia"/>
              </a:rPr>
              <a:t>JavaFX auf macOS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96896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3830"/>
                </a:solidFill>
                <a:latin typeface="Calibri"/>
              </a:rPr>
              <a:t>JavaFX 17 lief nicht auf macOS 15 Sequoia — die App startete gar nicht.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538728"/>
            <a:ext cx="4672584" cy="10972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3602736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832A"/>
                </a:solidFill>
                <a:latin typeface="Calibri"/>
              </a:rPr>
              <a:t>✓  Upgrade auf JavaFX 21.0.2 hat das Problem behoben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1664208"/>
            <a:ext cx="505663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1664208"/>
            <a:ext cx="45720" cy="239572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182880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Challenge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066544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1915"/>
                </a:solidFill>
                <a:latin typeface="Georgia"/>
              </a:rPr>
              <a:t>Datenbankverbindung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596896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3830"/>
                </a:solidFill>
                <a:latin typeface="Calibri"/>
              </a:rPr>
              <a:t>Datenbank-Verbindung wollte zunächst nicht funktionieren.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3538728"/>
            <a:ext cx="4672584" cy="10972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3602736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832A"/>
                </a:solidFill>
                <a:latin typeface="Calibri"/>
              </a:rPr>
              <a:t>✓  MySQL Connector korrekt eingebunden und JDBC-URL angepasst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206240"/>
            <a:ext cx="505663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71600" y="4206240"/>
            <a:ext cx="45720" cy="239572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54480" y="437083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Challenge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608576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1915"/>
                </a:solidFill>
                <a:latin typeface="Georgia"/>
              </a:rPr>
              <a:t>Karte bearbeiten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38928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3830"/>
                </a:solidFill>
                <a:latin typeface="Calibri"/>
              </a:rPr>
              <a:t>Die Button-Logik für „Bearbeiten" vs. „Neu" war zunächst unklar.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6080760"/>
            <a:ext cx="4672584" cy="10972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54480" y="6144768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832A"/>
                </a:solidFill>
                <a:latin typeface="Calibri"/>
              </a:rPr>
              <a:t>✓  ID-Flag (bearbeitenId = -1) als Zustandsmarker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4206240"/>
            <a:ext cx="505663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29400" y="4206240"/>
            <a:ext cx="45720" cy="239572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437083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8278"/>
                </a:solidFill>
                <a:latin typeface="Courier New"/>
              </a:rPr>
              <a:t>Challenge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608576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1915"/>
                </a:solidFill>
                <a:latin typeface="Georgia"/>
              </a:rPr>
              <a:t>Dialog-Rückgabewerte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138928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D3830"/>
                </a:solidFill>
                <a:latin typeface="Calibri"/>
              </a:rPr>
              <a:t>Optional&lt;String&gt; aus showAndWait() war ein unbekanntes Konzept.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6080760"/>
            <a:ext cx="4672584" cy="10972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12280" y="6144768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832A"/>
                </a:solidFill>
                <a:latin typeface="Calibri"/>
              </a:rPr>
              <a:t>✓  isPresent() + get() schrittweise abfragen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952" y="0"/>
            <a:ext cx="11430000" cy="6400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8952" cy="6858000"/>
          </a:xfrm>
          <a:prstGeom prst="rect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15468" y="502920"/>
            <a:ext cx="128016" cy="128016"/>
          </a:xfrm>
          <a:prstGeom prst="ellipse">
            <a:avLst/>
          </a:prstGeom>
          <a:solidFill>
            <a:srgbClr val="E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" y="1828800"/>
            <a:ext cx="640080" cy="2743200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algn="ctr"/>
            <a:r>
              <a:rPr sz="1100">
                <a:solidFill>
                  <a:srgbClr val="554E48"/>
                </a:solidFill>
                <a:latin typeface="Courier New"/>
              </a:rPr>
              <a:t>StudyCards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10314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32A"/>
                </a:solidFill>
                <a:latin typeface="Courier New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"/>
            <a:ext cx="10314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1C1915"/>
                </a:solidFill>
                <a:latin typeface="Georgia"/>
              </a:rPr>
              <a:t>Architektur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70432"/>
            <a:ext cx="10314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8278"/>
                </a:solidFill>
                <a:latin typeface="Calibri"/>
              </a:rPr>
              <a:t>Vereinfachtes MVC-Muster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99616"/>
            <a:ext cx="10314432" cy="1463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13581" y="6546417"/>
            <a:ext cx="16893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100" dirty="0">
                <a:solidFill>
                  <a:srgbClr val="B0A89E"/>
                </a:solidFill>
                <a:latin typeface="Courier New"/>
              </a:rPr>
              <a:t>Solaiman Tanjaoui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664208"/>
            <a:ext cx="10314432" cy="960120"/>
          </a:xfrm>
          <a:prstGeom prst="rect">
            <a:avLst/>
          </a:prstGeom>
          <a:solidFill>
            <a:srgbClr val="1C1915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0" y="1664208"/>
            <a:ext cx="54864" cy="960120"/>
          </a:xfrm>
          <a:prstGeom prst="rect">
            <a:avLst/>
          </a:prstGeom>
          <a:solidFill>
            <a:srgbClr val="E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0200" y="18196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Main.java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865376"/>
            <a:ext cx="5559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ourier New"/>
              </a:rPr>
              <a:t>Einstiegspunkt · startet JavaFX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624328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A89E"/>
                </a:solidFill>
                <a:latin typeface="Courier New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734056"/>
            <a:ext cx="10314432" cy="960120"/>
          </a:xfrm>
          <a:prstGeom prst="rect">
            <a:avLst/>
          </a:prstGeom>
          <a:solidFill>
            <a:srgbClr val="EDE8D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371600" y="2734056"/>
            <a:ext cx="54864" cy="96012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0200" y="288950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915"/>
                </a:solidFill>
                <a:latin typeface="Georgia"/>
              </a:rPr>
              <a:t>Ansichten (View)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35224"/>
            <a:ext cx="5559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ourier New"/>
              </a:rPr>
              <a:t>HauptFenster  ·  KartenVerwaltung  ·  LernModus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69417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A89E"/>
                </a:solidFill>
                <a:latin typeface="Courier New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803904"/>
            <a:ext cx="10314432" cy="960120"/>
          </a:xfrm>
          <a:prstGeom prst="rect">
            <a:avLst/>
          </a:prstGeom>
          <a:solidFill>
            <a:srgbClr val="E2DBC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600" y="3803904"/>
            <a:ext cx="54864" cy="960120"/>
          </a:xfrm>
          <a:prstGeom prst="rect">
            <a:avLst/>
          </a:prstGeom>
          <a:solidFill>
            <a:srgbClr val="8C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00200" y="39593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915"/>
                </a:solidFill>
                <a:latin typeface="Georgia"/>
              </a:rPr>
              <a:t>DatenbankManager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05072"/>
            <a:ext cx="5559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ourier New"/>
              </a:rPr>
              <a:t>JDBC-Zugriff · alle SQL-Operationen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764024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A89E"/>
                </a:solidFill>
                <a:latin typeface="Courier New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873752"/>
            <a:ext cx="10314432" cy="960120"/>
          </a:xfrm>
          <a:prstGeom prst="rect">
            <a:avLst/>
          </a:prstGeom>
          <a:solidFill>
            <a:srgbClr val="EDE8D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71600" y="4873752"/>
            <a:ext cx="54864" cy="960120"/>
          </a:xfrm>
          <a:prstGeom prst="rect">
            <a:avLst/>
          </a:prstGeom>
          <a:solidFill>
            <a:srgbClr val="B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00200" y="5029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915"/>
                </a:solidFill>
                <a:latin typeface="Georgia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074920"/>
            <a:ext cx="5559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ourier New"/>
              </a:rPr>
              <a:t>Lernkarte  ·  Lernset (Plain Java Objects)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5989320"/>
            <a:ext cx="10314432" cy="457200"/>
          </a:xfrm>
          <a:prstGeom prst="rect">
            <a:avLst/>
          </a:prstGeom>
          <a:solidFill>
            <a:srgbClr val="F7F3EC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00200" y="6044184"/>
            <a:ext cx="9948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8278"/>
                </a:solidFill>
                <a:latin typeface="Courier New"/>
              </a:rPr>
              <a:t>💾  MySQL Datenbank  —  localhost:3306/studycards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952" y="0"/>
            <a:ext cx="11430000" cy="6400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8952" cy="6858000"/>
          </a:xfrm>
          <a:prstGeom prst="rect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15468" y="502920"/>
            <a:ext cx="128016" cy="128016"/>
          </a:xfrm>
          <a:prstGeom prst="ellipse">
            <a:avLst/>
          </a:prstGeom>
          <a:solidFill>
            <a:srgbClr val="E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" y="1828800"/>
            <a:ext cx="640080" cy="2743200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algn="ctr"/>
            <a:r>
              <a:rPr sz="1100">
                <a:solidFill>
                  <a:srgbClr val="554E48"/>
                </a:solidFill>
                <a:latin typeface="Courier New"/>
              </a:rPr>
              <a:t>StudyCards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10314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32A"/>
                </a:solidFill>
                <a:latin typeface="Courier New"/>
              </a:rPr>
              <a:t>IMPLEMENTIERUNG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"/>
            <a:ext cx="10314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1C1915"/>
                </a:solidFill>
                <a:latin typeface="Georgia"/>
              </a:rPr>
              <a:t>Verwendete JavaFX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70432"/>
            <a:ext cx="10314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8278"/>
                </a:solidFill>
                <a:latin typeface="Calibri"/>
              </a:rPr>
              <a:t>Klassen und Konzepte im Überblick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99616"/>
            <a:ext cx="10314432" cy="1463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1664208"/>
            <a:ext cx="505663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1828800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915"/>
                </a:solidFill>
                <a:latin typeface="Georgia"/>
              </a:rPr>
              <a:t>Steuerelemente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286000"/>
            <a:ext cx="4690872" cy="16459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2414016"/>
            <a:ext cx="48006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Button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Label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TextField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TextInputDialog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Alert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1664208"/>
            <a:ext cx="505663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828800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915"/>
                </a:solidFill>
                <a:latin typeface="Georgia"/>
              </a:rPr>
              <a:t>Layouts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286000"/>
            <a:ext cx="4690872" cy="16459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414016"/>
            <a:ext cx="48006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VBox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HBox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GridPane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Insets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Pos (Ausrichtung)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206240"/>
            <a:ext cx="505663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4370832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915"/>
                </a:solidFill>
                <a:latin typeface="Georgia"/>
              </a:rPr>
              <a:t>Fenster &amp; Szene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4828032"/>
            <a:ext cx="4690872" cy="16459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956048"/>
            <a:ext cx="48006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Stage  (Fenster)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Scene  (Inhalt)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Application.launch()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4206240"/>
            <a:ext cx="505663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4370832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915"/>
                </a:solidFill>
                <a:latin typeface="Georgia"/>
              </a:rPr>
              <a:t>Datenbindung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4828032"/>
            <a:ext cx="4690872" cy="16459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4956048"/>
            <a:ext cx="48006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ObservableList&lt;T&gt;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FXCollections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D3830"/>
                </a:solidFill>
                <a:latin typeface="Courier New"/>
              </a:rPr>
              <a:t>●  ListView.setItems()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952" y="0"/>
            <a:ext cx="11430000" cy="6400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8952" cy="6858000"/>
          </a:xfrm>
          <a:prstGeom prst="rect">
            <a:avLst/>
          </a:prstGeom>
          <a:solidFill>
            <a:srgbClr val="10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15468" y="502920"/>
            <a:ext cx="128016" cy="128016"/>
          </a:xfrm>
          <a:prstGeom prst="ellipse">
            <a:avLst/>
          </a:prstGeom>
          <a:solidFill>
            <a:srgbClr val="E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0" y="6516883"/>
            <a:ext cx="1668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100" dirty="0">
                <a:solidFill>
                  <a:srgbClr val="B0A89E"/>
                </a:solidFill>
                <a:latin typeface="Courier New"/>
              </a:rPr>
              <a:t>Solaiman Tanjaoui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A84B"/>
                </a:solidFill>
                <a:latin typeface="Courier New"/>
              </a:rPr>
              <a:t>// Live-Demonstration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96112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0" i="1">
                <a:solidFill>
                  <a:srgbClr val="FFFFFF"/>
                </a:solidFill>
                <a:latin typeface="Georgia"/>
              </a:rPr>
              <a:t>Live</a:t>
            </a:r>
          </a:p>
          <a:p>
            <a:r>
              <a:rPr sz="11000" i="1">
                <a:solidFill>
                  <a:srgbClr val="C4832A"/>
                </a:solidFill>
                <a:latin typeface="Georgia"/>
              </a:rPr>
              <a:t>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120640"/>
            <a:ext cx="502920" cy="45720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5193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915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212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FFFFFF"/>
                </a:solidFill>
                <a:latin typeface="Calibri"/>
              </a:rPr>
              <a:t>Lernset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erstellen</a:t>
            </a:r>
            <a:endParaRPr sz="2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71600" y="5687568"/>
            <a:ext cx="502920" cy="45720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915"/>
                </a:solidFill>
                <a:latin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779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Karten hinzufügen &amp; bearbeiten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6254496"/>
            <a:ext cx="502920" cy="45720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63276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915"/>
                </a:solidFill>
                <a:latin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6345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Lernmodus starten &amp; Ergebnis sehen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1691640"/>
            <a:ext cx="3474720" cy="3474720"/>
          </a:xfrm>
          <a:prstGeom prst="ellipse">
            <a:avLst/>
          </a:prstGeom>
          <a:noFill/>
          <a:ln w="19050">
            <a:solidFill>
              <a:srgbClr val="604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0" y="2148840"/>
            <a:ext cx="2560320" cy="2560320"/>
          </a:xfrm>
          <a:prstGeom prst="ellipse">
            <a:avLst/>
          </a:prstGeom>
          <a:noFill/>
          <a:ln w="19050">
            <a:solidFill>
              <a:srgbClr val="604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21488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0" i="1" dirty="0">
                <a:solidFill>
                  <a:srgbClr val="30281C"/>
                </a:solidFill>
                <a:latin typeface="Georgia"/>
              </a:rPr>
              <a:t>SC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952" y="0"/>
            <a:ext cx="11430000" cy="64008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8952" cy="6858000"/>
          </a:xfrm>
          <a:prstGeom prst="rect">
            <a:avLst/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15468" y="502920"/>
            <a:ext cx="128016" cy="128016"/>
          </a:xfrm>
          <a:prstGeom prst="ellipse">
            <a:avLst/>
          </a:prstGeom>
          <a:solidFill>
            <a:srgbClr val="E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" y="1828800"/>
            <a:ext cx="640080" cy="2743200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algn="ctr"/>
            <a:r>
              <a:rPr sz="1100">
                <a:solidFill>
                  <a:srgbClr val="554E48"/>
                </a:solidFill>
                <a:latin typeface="Courier New"/>
              </a:rPr>
              <a:t>StudyCards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10314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32A"/>
                </a:solidFill>
                <a:latin typeface="Courier New"/>
              </a:rPr>
              <a:t>AUSBLICK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"/>
            <a:ext cx="10314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1C1915"/>
                </a:solidFill>
                <a:latin typeface="Georgia"/>
              </a:rPr>
              <a:t>Mögliche Erweiterungen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70432"/>
            <a:ext cx="10314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8278"/>
                </a:solidFill>
                <a:latin typeface="Calibri"/>
              </a:rPr>
              <a:t>Was man noch einbauen könnte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99616"/>
            <a:ext cx="10314432" cy="14630"/>
          </a:xfrm>
          <a:prstGeom prst="rect">
            <a:avLst/>
          </a:prstGeom>
          <a:solidFill>
            <a:srgbClr val="C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31422" y="6587246"/>
            <a:ext cx="16574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100" dirty="0">
                <a:solidFill>
                  <a:srgbClr val="B0A89E"/>
                </a:solidFill>
                <a:latin typeface="Courier New"/>
              </a:rPr>
              <a:t>Solaiman Tanjaoui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664208"/>
            <a:ext cx="33162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36192" y="1801368"/>
            <a:ext cx="3060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DBCF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176272"/>
            <a:ext cx="30601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5"/>
                </a:solidFill>
                <a:latin typeface="Georgia"/>
              </a:rPr>
              <a:t>Spaced Repetition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743200"/>
            <a:ext cx="30601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alibri"/>
              </a:rPr>
              <a:t>Karten öfter und in Abständen wiederholen lassen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0704" y="1664208"/>
            <a:ext cx="33162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35296" y="1801368"/>
            <a:ext cx="3060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DBCF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5296" y="2176272"/>
            <a:ext cx="30601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5"/>
                </a:solidFill>
                <a:latin typeface="Georgia"/>
              </a:rPr>
              <a:t>Import /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5296" y="2743200"/>
            <a:ext cx="30601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alibri"/>
              </a:rPr>
              <a:t>Sets als CSV oder JSON exportieren &amp; importieren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9808" y="1664208"/>
            <a:ext cx="33162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34400" y="1801368"/>
            <a:ext cx="3060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DBCF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176272"/>
            <a:ext cx="30601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5"/>
                </a:solidFill>
                <a:latin typeface="Georgia"/>
              </a:rPr>
              <a:t>Benutzerkonten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0" y="2743200"/>
            <a:ext cx="30601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alibri"/>
              </a:rPr>
              <a:t>Mehrere Nutzer mit eigenem Login und Lernfortschritt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069080"/>
            <a:ext cx="33162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36192" y="4206240"/>
            <a:ext cx="3060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DBCF"/>
                </a:solidFill>
                <a:latin typeface="Georg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581144"/>
            <a:ext cx="30601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5"/>
                </a:solidFill>
                <a:latin typeface="Georgia"/>
              </a:rPr>
              <a:t>Statistiken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5148072"/>
            <a:ext cx="30601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alibri"/>
              </a:rPr>
              <a:t>Lernfortschritt über Zeit als Diagramm anzeigen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0704" y="4069080"/>
            <a:ext cx="33162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35296" y="4206240"/>
            <a:ext cx="3060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DBCF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5296" y="4581144"/>
            <a:ext cx="30601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5"/>
                </a:solidFill>
                <a:latin typeface="Georgia"/>
              </a:rPr>
              <a:t>Bilder auf Karten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5296" y="5148072"/>
            <a:ext cx="30601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alibri"/>
              </a:rPr>
              <a:t>Fotos oder Skizzen zur Frage hinzufügen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9808" y="4069080"/>
            <a:ext cx="33162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34400" y="4206240"/>
            <a:ext cx="3060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DBCF"/>
                </a:solidFill>
                <a:latin typeface="Georg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4400" y="4581144"/>
            <a:ext cx="30601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5"/>
                </a:solidFill>
                <a:latin typeface="Georgia"/>
              </a:rPr>
              <a:t>FXML &amp; CSS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400" y="5148072"/>
            <a:ext cx="30601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8278"/>
                </a:solidFill>
                <a:latin typeface="Calibri"/>
              </a:rPr>
              <a:t>Moderne UI mit FXML-Layouts und StyleSheets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Macintosh PowerPoint</Application>
  <PresentationFormat>Benutzerdefiniert</PresentationFormat>
  <Paragraphs>121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Solaiman Tanjaoui</cp:lastModifiedBy>
  <cp:revision>2</cp:revision>
  <dcterms:created xsi:type="dcterms:W3CDTF">2013-01-27T09:14:16Z</dcterms:created>
  <dcterms:modified xsi:type="dcterms:W3CDTF">2026-06-19T01:12:25Z</dcterms:modified>
  <cp:category/>
</cp:coreProperties>
</file>